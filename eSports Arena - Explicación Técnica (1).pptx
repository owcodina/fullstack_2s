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us Jakarta Sans"/>
      <p:regular r:id="rId15"/>
      <p:bold r:id="rId16"/>
      <p:italic r:id="rId17"/>
      <p:boldItalic r:id="rId18"/>
    </p:embeddedFont>
    <p:embeddedFont>
      <p:font typeface="Fira Cod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Cod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regular.fntdata"/><Relationship Id="rId14" Type="http://schemas.openxmlformats.org/officeDocument/2006/relationships/slide" Target="slides/slide9.xml"/><Relationship Id="rId17" Type="http://schemas.openxmlformats.org/officeDocument/2006/relationships/font" Target="fonts/PlusJakartaSans-italic.fntdata"/><Relationship Id="rId16" Type="http://schemas.openxmlformats.org/officeDocument/2006/relationships/font" Target="fonts/PlusJakartaSa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raCode-regular.fntdata"/><Relationship Id="rId6" Type="http://schemas.openxmlformats.org/officeDocument/2006/relationships/slide" Target="slides/slide1.xml"/><Relationship Id="rId18" Type="http://schemas.openxmlformats.org/officeDocument/2006/relationships/font" Target="fonts/PlusJakarta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03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786312" y="1819275"/>
            <a:ext cx="2619375" cy="285750"/>
          </a:xfrm>
          <a:prstGeom prst="roundRect">
            <a:avLst>
              <a:gd fmla="val 50000" name="adj"/>
            </a:avLst>
          </a:prstGeom>
          <a:solidFill>
            <a:srgbClr val="1A3047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738562" y="3848100"/>
            <a:ext cx="1657350" cy="552450"/>
          </a:xfrm>
          <a:prstGeom prst="roundRect">
            <a:avLst>
              <a:gd fmla="val 17241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776912" y="3848100"/>
            <a:ext cx="2676525" cy="552450"/>
          </a:xfrm>
          <a:prstGeom prst="roundRect">
            <a:avLst>
              <a:gd fmla="val 17241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6687" y="40100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5037" y="40100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4611290" y="1876425"/>
            <a:ext cx="29694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FULLSTACK REACT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714452" y="2333625"/>
            <a:ext cx="476309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eSports Arena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654968" y="3152775"/>
            <a:ext cx="8882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Frontend, Gestión de Estado, Persistencia Local y Pruebas Unitarias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492103" y="4857750"/>
            <a:ext cx="17502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NOMBRES: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Owen Sias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153025" y="48577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435203" y="4857750"/>
            <a:ext cx="1654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Sebastian Sepúlveda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010400" y="48577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315200" y="4857750"/>
            <a:ext cx="1352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Christian Astorga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4319587" y="3971925"/>
            <a:ext cx="11239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FRAMEWORK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319587" y="4095750"/>
            <a:ext cx="1123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 + Vite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357937" y="3971925"/>
            <a:ext cx="232171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357937" y="4095750"/>
            <a:ext cx="23217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Karma + Chrome Headless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09600" y="2868810"/>
            <a:ext cx="3505200" cy="1952625"/>
          </a:xfrm>
          <a:prstGeom prst="roundRect">
            <a:avLst>
              <a:gd fmla="val 585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4343400" y="2868810"/>
            <a:ext cx="3505200" cy="1952625"/>
          </a:xfrm>
          <a:prstGeom prst="roundRect">
            <a:avLst>
              <a:gd fmla="val 585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077200" y="2868810"/>
            <a:ext cx="3505200" cy="1952625"/>
          </a:xfrm>
          <a:prstGeom prst="roundRect">
            <a:avLst>
              <a:gd fmla="val 585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76250"/>
            <a:ext cx="166687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315456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1525" y="315456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15325" y="315456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52487" y="457200"/>
            <a:ext cx="113395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GENERAL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 del Proyecto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47725" y="3630810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/src/components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47725" y="3983235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Componentes UI reutilizables como formularios, tarjetas de torneos y tablas de ranking.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4581525" y="3630810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/src/pages &amp; context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581525" y="3983235"/>
            <a:ext cx="3124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Vistas principales de navegación y control de estado global mediante Context API (RolContext).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315325" y="3630810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/src/services &amp; utils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315325" y="3983235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 de servicio Mock DB, utilidades de filtrado y lógica pura de validaciones de formularios.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9600" y="2716410"/>
            <a:ext cx="5534025" cy="2257425"/>
          </a:xfrm>
          <a:prstGeom prst="roundRect">
            <a:avLst>
              <a:gd fmla="val 5063" name="adj"/>
            </a:avLst>
          </a:prstGeom>
          <a:solidFill>
            <a:srgbClr val="020617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448425" y="2297459"/>
            <a:ext cx="5133975" cy="992385"/>
          </a:xfrm>
          <a:prstGeom prst="roundRect">
            <a:avLst>
              <a:gd fmla="val 767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448425" y="3442245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448425" y="4400401"/>
            <a:ext cx="5133975" cy="992385"/>
          </a:xfrm>
          <a:prstGeom prst="roundRect">
            <a:avLst>
              <a:gd fmla="val 767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448425" y="2297459"/>
            <a:ext cx="38100" cy="99238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448425" y="3442245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448425" y="4400401"/>
            <a:ext cx="38100" cy="99238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76250"/>
            <a:ext cx="18573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871537" y="457200"/>
            <a:ext cx="113204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INICIALIZACIÓN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de Entrada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00100" y="2906910"/>
            <a:ext cx="5248275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import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React 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from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'react'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import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ReactDOM 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from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'react-dom/client'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import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App 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from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'./App'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import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'./index.css'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ReactDOM.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createRoot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(document.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getElementById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'root'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)).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render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&lt;</a:t>
            </a:r>
            <a:r>
              <a:rPr b="0" i="0" lang="en-US" sz="975" u="none" cap="none" strike="noStrike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rPr>
              <a:t>React.StrictMode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&lt;</a:t>
            </a:r>
            <a:r>
              <a:rPr b="0" i="0" lang="en-US" sz="975" u="none" cap="none" strike="noStrike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rPr>
              <a:t>App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/&gt;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0" i="0" lang="en-US" sz="975" u="none" cap="none" strike="noStrike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rPr>
              <a:t>React.StrictMode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);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677025" y="2468909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Renderizado Inicial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677025" y="2745134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 de montaje de la aplicación React sobre el elemento raíz del DOM (`src/main.jsx`).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677025" y="3613695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 18 Concurrent Root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677025" y="3889920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Uso de createRoot para habilitar el nuevo motor de renderizado de React 18.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677025" y="4571851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StrictMode Habilitado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677025" y="4848076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Detecta efectos secundarios no deseados y advertencias durante el desarrollo.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09600" y="2066329"/>
            <a:ext cx="5534025" cy="3557587"/>
          </a:xfrm>
          <a:prstGeom prst="roundRect">
            <a:avLst>
              <a:gd fmla="val 3212" name="adj"/>
            </a:avLst>
          </a:prstGeom>
          <a:solidFill>
            <a:srgbClr val="020617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448425" y="2484090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448425" y="3442245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448425" y="4400401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448425" y="2484090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448425" y="3442245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448425" y="4400401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76250"/>
            <a:ext cx="18573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871537" y="457200"/>
            <a:ext cx="113204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ESTADO &amp; AUTENTICACIÓN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Estado Global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00100" y="2256829"/>
            <a:ext cx="5248275" cy="3176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export 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RolContext = 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createContext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export function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RolProvider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({ children })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[rol, setRol] = 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useState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(() =&gt;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localStorage.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getItem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'rolUsuario'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 ||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'jugador'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useEffect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(() =&gt;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localStorage.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setItem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'rolUsuario'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rol);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}, [rol]);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&lt;</a:t>
            </a:r>
            <a:r>
              <a:rPr b="0" i="0" lang="en-US" sz="975" u="none" cap="none" strike="noStrike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rPr>
              <a:t>RolContext.Provider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value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={{ rol, setRol }}&gt;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  {children}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</a:t>
            </a:r>
            <a:r>
              <a:rPr b="0" i="0" lang="en-US" sz="975" u="none" cap="none" strike="noStrike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rPr>
              <a:t>RolContext.Provider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}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677025" y="2655540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de Roles (`src/context/RolContext.jsx`)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677025" y="2931765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Administra el contexto global del usuario dentro de la aplicación eports.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677025" y="3613695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Persistencia Automática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677025" y="3889920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Sincroniza el rol actual ('jugador' / 'admin') con localStorage dinámicamente.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677025" y="4571851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Acceso Unificado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677025" y="4848076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a cualquier componente adaptar la UI según el privilegio del usuario.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09600" y="2437804"/>
            <a:ext cx="5534025" cy="2814637"/>
          </a:xfrm>
          <a:prstGeom prst="roundRect">
            <a:avLst>
              <a:gd fmla="val 4060" name="adj"/>
            </a:avLst>
          </a:prstGeom>
          <a:solidFill>
            <a:srgbClr val="020617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448425" y="2297459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448425" y="3255615"/>
            <a:ext cx="5133975" cy="992385"/>
          </a:xfrm>
          <a:prstGeom prst="roundRect">
            <a:avLst>
              <a:gd fmla="val 767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448425" y="4400401"/>
            <a:ext cx="5133975" cy="992385"/>
          </a:xfrm>
          <a:prstGeom prst="roundRect">
            <a:avLst>
              <a:gd fmla="val 767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448425" y="2297459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448425" y="3255615"/>
            <a:ext cx="38100" cy="99238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6448425" y="4400401"/>
            <a:ext cx="38100" cy="99238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76250"/>
            <a:ext cx="14763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833437" y="457200"/>
            <a:ext cx="113585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PERSISTENCIA LOCAL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 de Servicios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00100" y="2628304"/>
            <a:ext cx="5248275" cy="24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export 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db =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obtenerTorneos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: () =&gt;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data = localStorage.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getItem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'torneos'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data ? JSON.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parse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(data) : datosIniciales;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},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guardarTorneo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: (nuevoTorneo) =&gt;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torneos = db.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obtenerTorneos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actualizados = [...torneos, { ...nuevoTorneo, id: Date.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now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 }];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localStorage.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setItem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'torneos'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JSON.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stringify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(actualizados));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actualizados;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};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677025" y="2468909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Simulación de Base de Datos (`src/services/db.js`)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677025" y="2745134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Abstracción limpia para interactuar con datos locales simulados.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677025" y="3427065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Patrón Repository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677025" y="3703290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Aísla el acceso al almacenamiento permitiendo cambiar a una API REST sin tocar la UI.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6677025" y="4571851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Generación de IDs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677025" y="4848076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Asigna identificadores únicos por timestamps para garantizar registros distintos.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09600" y="2437804"/>
            <a:ext cx="5534025" cy="2814637"/>
          </a:xfrm>
          <a:prstGeom prst="roundRect">
            <a:avLst>
              <a:gd fmla="val 4060" name="adj"/>
            </a:avLst>
          </a:prstGeom>
          <a:solidFill>
            <a:srgbClr val="020617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6448425" y="2484090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448425" y="3442245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448425" y="4400401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6448425" y="2484090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448425" y="3442245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448425" y="4400401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76250"/>
            <a:ext cx="12858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814387" y="457200"/>
            <a:ext cx="113776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REGLAS DE NEGOCIO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Lógica de Validación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00100" y="2628304"/>
            <a:ext cx="5248275" cy="24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export function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validarInscripcion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(datos)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errores = {};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(!datos.nombreEquipo?.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trim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errores.nombreEquipo =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'El nombre es obligatorio'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(!datos.emailContacto || !datos.emailContacto.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includes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'@'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errores.emailContacto =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'Correo electrónico inválido'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(!datos.integrantes || datos.integrantes.length &lt; 3)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errores.integrantes =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'Mínimo 3 jugadores requeridos'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{ esValido: Object.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keys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(errores).length === 0, errores };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}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677025" y="2655540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Validaciones Puras (`src/validators/validaciones.js`)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677025" y="2931765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 desacoplado para verificar las reglas de registro de equipos.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677025" y="3613695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Funciones Puras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677025" y="3889920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Fáciles de probar unitariamente al no depender del renderizado de React.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677025" y="4571851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 Inmediato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677025" y="4848076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Devuelve un objeto claro con los mensajes de error por campo.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09600" y="2623542"/>
            <a:ext cx="5534025" cy="2443162"/>
          </a:xfrm>
          <a:prstGeom prst="roundRect">
            <a:avLst>
              <a:gd fmla="val 4678" name="adj"/>
            </a:avLst>
          </a:prstGeom>
          <a:solidFill>
            <a:srgbClr val="020617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448425" y="2484090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6448425" y="3442245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6448425" y="4400401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6448425" y="2484090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6448425" y="3442245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6448425" y="4400401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76250"/>
            <a:ext cx="18573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871537" y="457200"/>
            <a:ext cx="113204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CONFIGURACIÓN DE TEST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Entorno de Pruebas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800100" y="2814042"/>
            <a:ext cx="5248275" cy="2062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module.exports = 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function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(config)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config.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set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frameworks: [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'jasmine'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files: [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'src/**/*.spec.jsx'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'src/**/*.spec.js'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browsers: [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'ChromeHeadless'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reporters: [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'progress'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'coverage'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preprocessors: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  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'src/**/*.jsx'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: [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'babel'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});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};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677025" y="2655540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Karma + Chrome Headless (`karma.conf.cjs`)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677025" y="2931765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Infraestructura automatizada para pruebas de componentes y funciones JS.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677025" y="3613695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Ejecución Headless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6677025" y="3889920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Corre los tests de forma automatizada sin abrir la interfaz del navegador.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6677025" y="4571851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Reportes de Cobertura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6677025" y="4848076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 métricas automáticas HTML/lcov del código probado en /coverage.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609600" y="2437804"/>
            <a:ext cx="5534025" cy="2814637"/>
          </a:xfrm>
          <a:prstGeom prst="roundRect">
            <a:avLst>
              <a:gd fmla="val 4060" name="adj"/>
            </a:avLst>
          </a:prstGeom>
          <a:solidFill>
            <a:srgbClr val="020617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6448425" y="2390775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6448425" y="3348930"/>
            <a:ext cx="5133975" cy="992385"/>
          </a:xfrm>
          <a:prstGeom prst="roundRect">
            <a:avLst>
              <a:gd fmla="val 767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6448425" y="4493716"/>
            <a:ext cx="5133975" cy="805755"/>
          </a:xfrm>
          <a:prstGeom prst="roundRect">
            <a:avLst>
              <a:gd fmla="val 945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448425" y="2390775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448425" y="3348930"/>
            <a:ext cx="38100" cy="99238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6448425" y="4493716"/>
            <a:ext cx="38100" cy="80575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76250"/>
            <a:ext cx="14763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833437" y="457200"/>
            <a:ext cx="113585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UNITARIO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Pruebas Unitarias de Lógica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800100" y="2628304"/>
            <a:ext cx="5248275" cy="24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describe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'Validaciones de Inscripción'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() =&gt;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'debe fallar si el email no es válido'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() =&gt;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datos = {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  nombreEquipo: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'Alpha'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  emailContacto: </a:t>
            </a: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'invalido'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};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</a:t>
            </a:r>
            <a:r>
              <a:rPr b="1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resultado = 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validarInscripcion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(datos);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expect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(resultado.esValido).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toBeFalse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  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expect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(resultado.errores.emailContacto).</a:t>
            </a: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toBeDefined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  });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});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677025" y="2562225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Verificación de Validaciones (`validaciones.spec.js`)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677025" y="2838450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Asegura la precisión del procesamiento de datos en los formularios.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677025" y="3520380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Estilo AAA (Arrange-Act-Assert)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677025" y="3796605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 limpia que prepara datos, ejecuta la función y valida los resultados.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677025" y="4665166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Pruebas Deterministas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677025" y="4941391"/>
            <a:ext cx="55149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Garantiza que la lógica de negocio funcione bien antes de renderizar la UI.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857250" y="2681287"/>
            <a:ext cx="3340149" cy="1819275"/>
          </a:xfrm>
          <a:prstGeom prst="roundRect">
            <a:avLst>
              <a:gd fmla="val 6282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425999" y="2681287"/>
            <a:ext cx="3340149" cy="1819275"/>
          </a:xfrm>
          <a:prstGeom prst="roundRect">
            <a:avLst>
              <a:gd fmla="val 6282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7994749" y="2681287"/>
            <a:ext cx="3340149" cy="1819275"/>
          </a:xfrm>
          <a:prstGeom prst="roundRect">
            <a:avLst>
              <a:gd fmla="val 6282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3" name="Google Shape;2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0206" y="1576387"/>
            <a:ext cx="128587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2957512"/>
            <a:ext cx="2787699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2224" y="2957512"/>
            <a:ext cx="2787699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0974" y="2957512"/>
            <a:ext cx="2787699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5506045" y="1557337"/>
            <a:ext cx="13846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CONCLUSIÓN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2889349" y="1843087"/>
            <a:ext cx="641330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Puntos Clave del Proyecto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4065984" y="4957762"/>
            <a:ext cx="40600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¡Gracias por su atención!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1133475" y="3490912"/>
            <a:ext cx="36588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Modularidad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133475" y="3824287"/>
            <a:ext cx="28829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Separación en componentes pequeños, utilidades puras y persistencia abstracta.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4702224" y="3490912"/>
            <a:ext cx="36588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Calidad y Tests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4702224" y="3824287"/>
            <a:ext cx="28829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Suites unitarias con Karma para validaciones y renderizado de componentes.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8270974" y="3490912"/>
            <a:ext cx="36588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de Roles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8270974" y="3824287"/>
            <a:ext cx="28829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 API para gestionar la experiencia según el perfil del usuario.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